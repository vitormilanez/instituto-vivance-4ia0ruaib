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7ef67d679a4e0e" /><Relationship Type="http://schemas.openxmlformats.org/officeDocument/2006/relationships/extended-properties" Target="/docProps/app.xml" Id="R2620815297404aca" /><Relationship Type="http://schemas.openxmlformats.org/officeDocument/2006/relationships/officeDocument" Target="/ppt/presentation.xml" Id="Rfc7d353eec1747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39d64a278845f7"/>
  </p:sldMasterIdLst>
  <p:notesMasterIdLst>
    <p:notesMasterId xmlns:r="http://schemas.openxmlformats.org/officeDocument/2006/relationships" r:id="R9821dfb082e74a78"/>
  </p:notesMasterIdLst>
  <p:sldIdLst>
    <p:sldId xmlns:r="http://schemas.openxmlformats.org/officeDocument/2006/relationships" id="256" r:id="R62eea6de3c3b45d3"/>
    <p:sldId xmlns:r="http://schemas.openxmlformats.org/officeDocument/2006/relationships" id="257" r:id="Rbee6baef29a24ba2"/>
    <p:sldId xmlns:r="http://schemas.openxmlformats.org/officeDocument/2006/relationships" id="258" r:id="R13efa5ae03a2423b"/>
    <p:sldId xmlns:r="http://schemas.openxmlformats.org/officeDocument/2006/relationships" id="259" r:id="R492099a4c95b43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5c50af20e4a93" /><Relationship Type="http://schemas.openxmlformats.org/officeDocument/2006/relationships/slideMaster" Target="/ppt/slideMasters/slideMaster1.xml" Id="R4039d64a278845f7" /><Relationship Type="http://schemas.openxmlformats.org/officeDocument/2006/relationships/notesMaster" Target="/ppt/notesMasters/notesMaster1.xml" Id="R9821dfb082e74a78" /><Relationship Type="http://schemas.openxmlformats.org/officeDocument/2006/relationships/presProps" Target="/ppt/presProps.xml" Id="Ra6eac3280a9c4d8f" /><Relationship Type="http://schemas.openxmlformats.org/officeDocument/2006/relationships/tableStyles" Target="/ppt/tableStyles.xml" Id="Rdc4cedcccf014e73" /><Relationship Type="http://schemas.openxmlformats.org/officeDocument/2006/relationships/slide" Target="/ppt/slides/slide1.xml" Id="R62eea6de3c3b45d3" /><Relationship Type="http://schemas.openxmlformats.org/officeDocument/2006/relationships/slide" Target="/ppt/slides/slide2.xml" Id="Rbee6baef29a24ba2" /><Relationship Type="http://schemas.openxmlformats.org/officeDocument/2006/relationships/slide" Target="/ppt/slides/slide3.xml" Id="R13efa5ae03a2423b" /><Relationship Type="http://schemas.openxmlformats.org/officeDocument/2006/relationships/slide" Target="/ppt/slides/slide4.xml" Id="R492099a4c95b43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6c4e534c7546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526e64c0bd4cd4" /><Relationship Type="http://schemas.openxmlformats.org/officeDocument/2006/relationships/notesMaster" Target="/ppt/notesMasters/notesMaster1.xml" Id="R0594497054b142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3fa972a9004dec" /><Relationship Type="http://schemas.openxmlformats.org/officeDocument/2006/relationships/notesMaster" Target="/ppt/notesMasters/notesMaster1.xml" Id="R3679bb9bc21a4e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6255261b8d4742" /><Relationship Type="http://schemas.openxmlformats.org/officeDocument/2006/relationships/notesMaster" Target="/ppt/notesMasters/notesMaster1.xml" Id="R5a31dafb405a44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791f793aea44f4" /><Relationship Type="http://schemas.openxmlformats.org/officeDocument/2006/relationships/notesMaster" Target="/ppt/notesMasters/notesMaster1.xml" Id="Rafbbd3ff7f204d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Documento-base: pasted-text.txt, seções 8, 9 e 13.</a:t>
            </a:r>
          </a:p>
          <a:p xmlns:a="http://schemas.openxmlformats.org/drawingml/2006/main">
            <a:r>
              <a:t>Repositório: README.md, apps/api, apps/mobile e packages/contracts no commit 645b417.</a:t>
            </a:r>
          </a:p>
          <a:p xmlns:a="http://schemas.openxmlformats.org/drawingml/2006/main">
            <a:r>
              <a:t>Produção: https://github.com/value-first-consulting/Autisfera/actions/runs/32921560759</a:t>
            </a:r>
          </a:p>
          <a:p xmlns:a="http://schemas.openxmlformats.org/drawingml/2006/main">
            <a:r>
              <a:t>Testes com usuários finais: confirmação do Product Owner nesta conversa; sessões ainda não estão documentadas no repositório.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Documento-base: pasted-text.txt, linhas 134–279 (escopo MVP), 301–374 (roadmap) e 430–478 (fundação/LGPD/acessibilidade).</a:t>
            </a:r>
          </a:p>
          <a:p xmlns:a="http://schemas.openxmlformats.org/drawingml/2006/main">
            <a:r>
              <a:t>Implementação: README.md; apps/mobile/lib/core/auth/router.dart; apps/mobile/lib/features; apps/api/src/modules; packages/contracts/src.</a:t>
            </a:r>
          </a:p>
          <a:p xmlns:a="http://schemas.openxmlformats.org/drawingml/2006/main">
            <a:r>
              <a:t>Subitens em fechamento: fluxo familiar de status da recomendação e editor simplificado do perfil sensorial do adulto.</a:t>
            </a:r>
          </a:p>
          <a:p xmlns:a="http://schemas.openxmlformats.org/drawingml/2006/main">
            <a:r>
              <a:t>Nightly: https://github.com/value-first-consulting/Autisfera/actions/runs/32924715764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Além do escopo: documento-base pasted-text.txt, linhas 281–305 (itens explicitamente fora do MVP).</a:t>
            </a:r>
          </a:p>
          <a:p xmlns:a="http://schemas.openxmlformats.org/drawingml/2006/main">
            <a:r>
              <a:t>Produção/main: PRs #29, #34, #35, #43, #50, #51, #52, #53, #57, #59, #60, #61, #68, #73, #74, #75, #76, #80 e #81.</a:t>
            </a:r>
          </a:p>
          <a:p xmlns:a="http://schemas.openxmlformats.org/drawingml/2006/main">
            <a:r>
              <a:t>PR #85: https://github.com/value-first-consulting/Autisfera/pull/85 — mergeável, não incorporada a main.</a:t>
            </a:r>
          </a:p>
          <a:p xmlns:a="http://schemas.openxmlformats.org/drawingml/2006/main">
            <a:r>
              <a:t>PR #86: https://github.com/value-first-consulting/Autisfera/pull/86 — documentação/modelagem, sem implementação de runtime.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Roadmap original: pasted-text.txt, linhas 308–380. A fase técnica original está implementada.</a:t>
            </a:r>
          </a:p>
          <a:p xmlns:a="http://schemas.openxmlformats.org/drawingml/2006/main">
            <a:r>
              <a:t>Horizontes desta lâmina são recomendações executivas, não compromissos já aprovados.</a:t>
            </a:r>
          </a:p>
          <a:p xmlns:a="http://schemas.openxmlformats.org/drawingml/2006/main">
            <a:r>
              <a:t>Fechamento técnico atual: nightly #32924715764; produção #32921560759; PRs abertas #85 e #86.</a:t>
            </a:r>
          </a:p>
          <a:p xmlns:a="http://schemas.openxmlformats.org/drawingml/2006/main">
            <a:r>
              <a:t>Pendências de governança não autorizam afirmar conformidade integral: termos, privacidade/DPO/DPAs e pen test seguem registrados como itens a formalizar.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812506cb74f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23f08ccc284588" /><Relationship Type="http://schemas.openxmlformats.org/officeDocument/2006/relationships/slideLayout" Target="/ppt/slideLayouts/slideLayout1.xml" Id="Raf2c3dffa03d40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2c3dffa03d40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11ddbc7a8439c" /><Relationship Type="http://schemas.openxmlformats.org/officeDocument/2006/relationships/image" Target="/ppt/media/image.png" Id="Rb0757215d7864f6c" /><Relationship Type="http://schemas.openxmlformats.org/officeDocument/2006/relationships/notesSlide" Target="/ppt/notesSlides/notesSlide1.xml" Id="Rdd35dd3d08bb42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e25291e754705" /><Relationship Type="http://schemas.openxmlformats.org/officeDocument/2006/relationships/notesSlide" Target="/ppt/notesSlides/notesSlide2.xml" Id="R982f7308c3ac41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e52b64ef24b61" /><Relationship Type="http://schemas.openxmlformats.org/officeDocument/2006/relationships/notesSlide" Target="/ppt/notesSlides/notesSlide3.xml" Id="R43e3df39a5554f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da208aace4f82" /><Relationship Type="http://schemas.openxmlformats.org/officeDocument/2006/relationships/notesSlide" Target="/ppt/notesSlides/notesSlide4.xml" Id="Rdfaec354752944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749CE2-80DC-48FC-99E7-33100C80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57215d7864f6c"/>
          <a:stretch xmlns:a="http://schemas.openxmlformats.org/drawingml/2006/main"/>
        </p:blipFill>
        <p:spPr>
          <a:xfrm xmlns:a="http://schemas.openxmlformats.org/drawingml/2006/main">
            <a:off x="10401300" y="40005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DD260-E146-4EC8-A036-4DC586C1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46BFE"/>
                </a:solidFill>
              </a:defRPr>
            </a:pPr>
            <a:r>
              <a:rPr sz="1200" b="1">
                <a:solidFill>
                  <a:srgbClr val="246BFE"/>
                </a:solidFill>
              </a:rPr>
              <a:t>AUTISFERA  ·  ROADMAP EXECUTIVO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56D34-9B81-4A3F-8C72-8D1147B2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0B0F19"/>
                </a:solidFill>
              </a:defRPr>
            </a:pPr>
            <a:r>
              <a:rPr sz="4050" b="1">
                <a:solidFill>
                  <a:srgbClr val="0B0F19"/>
                </a:solidFill>
              </a:rPr>
              <a:t>MVP: objetivo central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0B0F19"/>
                </a:solidFill>
              </a:defRPr>
            </a:pPr>
            <a:r>
              <a:rPr sz="4050" b="1">
                <a:solidFill>
                  <a:srgbClr val="0B0F19"/>
                </a:solidFill>
              </a:rPr>
              <a:t>atingido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6509B-B71B-49E0-9A7A-58952CA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Os pilares principais estão implementados, a solução está em produção e os testes com usuários finais já começaram. A evolução pós-MVP já está em curso.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B024D-6AB7-47C5-82A1-2A244677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7823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D49D2-615A-4A5A-984A-100A738C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246BFE"/>
                </a:solidFill>
              </a:defRPr>
            </a:pPr>
            <a:r>
              <a:rPr sz="2850" b="1">
                <a:solidFill>
                  <a:srgbClr val="246BFE"/>
                </a:solidFill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F526D-D9EB-4C6C-BAD8-C23053E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2432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pilares centrais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4B0CD-CEC4-42F1-A293-CD4FE832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577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implementados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898DF-9551-4425-BF4A-71C42B79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B0879-A00F-41B9-9EA5-D39BE0ED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148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46BFE"/>
                </a:solidFill>
              </a:defRPr>
            </a:pPr>
            <a:r>
              <a:rPr sz="1725" b="1">
                <a:solidFill>
                  <a:srgbClr val="246BFE"/>
                </a:solidFill>
              </a:rPr>
              <a:t>PROD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0C5F3-EF47-48A6-B9F3-1DFA548A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2432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produto ativo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1C338-1891-4B68-8243-39088B25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577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web +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0610B-71FA-44B1-9832-20C919C1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1A479-4F64-4D8C-B78A-B8F83B8F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148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46BFE"/>
                </a:solidFill>
              </a:defRPr>
            </a:pPr>
            <a:r>
              <a:rPr sz="1725" b="1">
                <a:solidFill>
                  <a:srgbClr val="246BFE"/>
                </a:solidFill>
              </a:rPr>
              <a:t>REAL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94876-D084-4CE1-8720-F371D11E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2432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usuários finais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C52CA-5FD9-486B-9E7E-15276322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testes iniciados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51706-D5B3-4FA9-B867-4B3572E2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49070-3507-405E-B59C-0561E33B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246BFE"/>
                </a:solidFill>
              </a:defRPr>
            </a:pPr>
            <a:r>
              <a:rPr sz="2850" b="1">
                <a:solidFill>
                  <a:srgbClr val="246BFE"/>
                </a:solidFill>
              </a:rPr>
              <a:t>F2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B3F2F-DCC9-40AA-BCAC-6D30AE30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2432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evolução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6ED86D-A009-41DD-80AB-5FA0079F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577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já avançando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09DBD-9E6A-4666-AACE-F2A2CA94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38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0">
            <a:solidFill>
              <a:srgbClr val="E8F6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CF564-D2F3-451B-85BE-5B02B3BF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6856A"/>
                </a:solidFill>
              </a:defRPr>
            </a:pPr>
            <a:r>
              <a:rPr sz="1050" b="1">
                <a:solidFill>
                  <a:srgbClr val="16856A"/>
                </a:solidFill>
              </a:rPr>
              <a:t>MVP CENTRAL ENTREGUE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B2D0A-E503-4173-8D05-F1864D69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15000"/>
            <a:ext cx="2514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12479-74F5-42A2-B8AE-168E2C31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2452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7791F"/>
                </a:solidFill>
              </a:defRPr>
            </a:pPr>
            <a:r>
              <a:rPr sz="1050" b="1">
                <a:solidFill>
                  <a:srgbClr val="B7791F"/>
                </a:solidFill>
              </a:rPr>
              <a:t>CONSOLIDAÇÃO EM PARALELO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1799B-1F57-49C7-9378-AC61DB4E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Status executivo  ·  27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469554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4A4113E-82C4-4D77-8E85-F39ABBD9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46BFE"/>
                </a:solidFill>
              </a:defRPr>
            </a:pPr>
            <a:r>
              <a:rPr sz="1050" b="1">
                <a:solidFill>
                  <a:srgbClr val="246BFE"/>
                </a:solidFill>
              </a:rPr>
              <a:t>AUTISFERA  /  ROADMAP EXECUTIVO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2B434-19EB-4ABA-B2F2-42DF4D43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4ACA0-BD43-400C-B7B6-8D355B04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 escopo do documento já se materializou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C6C5A-02DA-4C38-BA60-36AA672C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 base prevista está entregue; três complementações funcionais e o nightly seguem em fechamento.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39FF1-9952-4BFF-A41C-5E47B83B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93A72-3259-4A20-B925-DB8DD5D6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9477C-267B-4FC7-9576-B95B70C4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ESCOPO DO DOCUMENTO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E2A65-082D-4C1A-9E38-1574A5B5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ESTADO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2AE78-78BB-4824-B5E7-47315E2A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EVIDÊNCIA ENTREGUE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1C37E-BC4A-488C-B1C8-7C9B68F2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FECHAMENTO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8733B-804B-4A02-8854-A892B1E9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D1168-9372-4B02-AE51-F5AAFCAD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AEA90-D190-4EEE-A076-675725FF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717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6DFB2-4B51-4F59-81D1-1FC349AA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A285A-B862-484D-8958-D7C2D96B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B626F-CE25-4E68-92E1-60A6849D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Onboarding + 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8315E-0D57-4A61-9CEC-AB91914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669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0">
            <a:solidFill>
              <a:srgbClr val="E8F6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F86B7-B4C4-49B1-B414-614E77C9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764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6856A"/>
                </a:solidFill>
              </a:defRPr>
            </a:pPr>
            <a:r>
              <a:rPr sz="1050" b="1">
                <a:solidFill>
                  <a:srgbClr val="16856A"/>
                </a:solidFill>
              </a:rPr>
              <a:t>ENTREGUE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97089-B82F-4F9E-9309-480FE1BD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Fluxo progressivo, perfis, responsáveis e Manual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A1B88-42E8-4CC4-82EB-7005BBC9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09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667085"/>
                </a:solidFill>
              </a:defRPr>
            </a:pPr>
            <a:r>
              <a:rPr sz="1088" b="0">
                <a:solidFill>
                  <a:srgbClr val="667085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AA9E18-C70B-4484-9D05-309AC3A9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9B6C8-8893-4229-98F8-A05EABB0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BE4E7-E3AF-47BF-8831-B77A9F32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86664-41AD-4B6A-9B7D-00796B27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2BF0A-B425-4758-9A3B-7224A300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E7630-5579-47FC-846C-E25A7F5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Rede de Cuidado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CAA36B-2FB0-4930-A5EB-54786FE7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432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0">
            <a:solidFill>
              <a:srgbClr val="E8F6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45E47A-729E-44BE-A15E-A8D66E60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527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6856A"/>
                </a:solidFill>
              </a:defRPr>
            </a:pPr>
            <a:r>
              <a:rPr sz="1050" b="1">
                <a:solidFill>
                  <a:srgbClr val="16856A"/>
                </a:solidFill>
              </a:rPr>
              <a:t>ENTREGUE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B7FEA-A57A-4411-9D63-11B93CDE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Convites, papéis, remoção e auditoria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CC0504-C0C6-4190-88D2-70BCEEAD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860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667085"/>
                </a:solidFill>
              </a:defRPr>
            </a:pPr>
            <a:r>
              <a:rPr sz="1088" b="0">
                <a:solidFill>
                  <a:srgbClr val="667085"/>
                </a:solidFill>
              </a:rPr>
              <a:t>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7E6C09-8770-4006-99EC-D1754712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77DC30-4963-4366-8C04-1EB9D9D8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E94AC4-773D-4D89-8F08-F2AE7E51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24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7F4FD2-37D5-4281-852E-25914B5F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24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7EF189-5AF3-406C-AC3A-F885C8BB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24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4F31D0-633A-41F3-8E2A-D541C9FF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Diretório profissional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065900-E185-4663-9437-EED9A69A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0">
            <a:solidFill>
              <a:srgbClr val="E8F6F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66EB15-7D8D-4432-8D01-DB27C22A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289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6856A"/>
                </a:solidFill>
              </a:defRPr>
            </a:pPr>
            <a:r>
              <a:rPr sz="1050" b="1">
                <a:solidFill>
                  <a:srgbClr val="16856A"/>
                </a:solidFill>
              </a:rPr>
              <a:t>ENTREGUE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D06CD0-9D65-4460-A0C5-D3FB8FC0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Busca, filtros, verificação e contato externo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73D2D9-9B01-4E45-BF2E-F0FCD87F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62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667085"/>
                </a:solidFill>
              </a:defRPr>
            </a:pPr>
            <a:r>
              <a:rPr sz="1088" b="0">
                <a:solidFill>
                  <a:srgbClr val="667085"/>
                </a:solidFill>
              </a:rPr>
              <a:t>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2F2FFF-82B2-463B-B111-36F202A5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49B558-347B-41D8-B7B6-43D95334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5E208A-5D72-4A54-8D64-4770CE63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00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D4DC48-F6CA-4502-A7FE-E2B0F21F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6ABC54-59A8-4318-9CD8-52AEBE05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00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741F39-4F9D-47CE-9A79-ECA644CC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Painel profissional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3D1ED8-1619-48A4-B8E1-AD396451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957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AD7113-38FA-4408-BF76-4B389F54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05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7791F"/>
                </a:solidFill>
              </a:defRPr>
            </a:pPr>
            <a:r>
              <a:rPr sz="1050" b="1">
                <a:solidFill>
                  <a:srgbClr val="B7791F"/>
                </a:solidFill>
              </a:rPr>
              <a:t>CORE ENTREGUE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C01999-2BA2-49AD-930F-B4A65061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Perfil, credenciais, vínculo e recomendação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096CB2-D344-4C19-BD21-A0A5DEF8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38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>
                <a:solidFill>
                  <a:srgbClr val="B7791F"/>
                </a:solidFill>
              </a:defRPr>
            </a:pPr>
            <a:r>
              <a:rPr sz="1088" b="1">
                <a:solidFill>
                  <a:srgbClr val="B7791F"/>
                </a:solidFill>
              </a:rPr>
              <a:t>Status familiar da recomendação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CF3EA4-5536-4AD2-9C07-17CBC6FB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7D0892-1C22-4167-B866-2EF53176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041CEC-6600-4A1C-82B3-A6D9288E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767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5A42B3-3D25-4E65-B956-7FDF92D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767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0B6E3F-481F-4089-B02F-FDD535FF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767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145F1E-F7E2-4323-B85E-FC2B05CF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Biblioteca de conteúdo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757C3E-C5C2-4A71-BFA5-190FE0A7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719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0">
            <a:solidFill>
              <a:srgbClr val="E8F6F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0D307B-F037-4922-9958-4A80CD7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814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6856A"/>
                </a:solidFill>
              </a:defRPr>
            </a:pPr>
            <a:r>
              <a:rPr sz="1050" b="1">
                <a:solidFill>
                  <a:srgbClr val="16856A"/>
                </a:solidFill>
              </a:rPr>
              <a:t>ENTREGUE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873AFC-EB08-4B8C-928C-AF03BF42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14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Categorias, detalhe, links e favoritos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5E6E13-F7A6-44F7-A932-6BD5D17E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14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667085"/>
                </a:solidFill>
              </a:defRPr>
            </a:pPr>
            <a:r>
              <a:rPr sz="1088" b="0">
                <a:solidFill>
                  <a:srgbClr val="667085"/>
                </a:solidFill>
              </a:rPr>
              <a:t>—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96357F-5DC2-49AE-81E8-26F3DD22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37C496-D663-4042-8F80-DEFD0933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89D710-7571-4741-9837-904BCAF3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52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2D7646-A63A-4741-A847-373D16D2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B5C37D-96A2-4655-A16A-3E01936C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52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21C2CC-274D-4C65-8BD5-D6685900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Admin operacional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002DE6B-E8D5-4C66-BB95-159459A0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482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859D83-9CF0-406C-927F-ADF772F3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577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7791F"/>
                </a:solidFill>
              </a:defRPr>
            </a:pPr>
            <a:r>
              <a:rPr sz="1050" b="1">
                <a:solidFill>
                  <a:srgbClr val="B7791F"/>
                </a:solidFill>
              </a:rPr>
              <a:t>CORE ENTREGUE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6C0E6B-5AEE-49B0-A4CB-4CC1DDD5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91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Aprovação, suspensão, conteúdo, usuários e logs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D557AA-E839-490B-AF70-5337B9F3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910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>
                <a:solidFill>
                  <a:srgbClr val="B7791F"/>
                </a:solidFill>
              </a:defRPr>
            </a:pPr>
            <a:r>
              <a:rPr sz="1088" b="1">
                <a:solidFill>
                  <a:srgbClr val="B7791F"/>
                </a:solidFill>
              </a:rPr>
              <a:t>Edição/remoção direta de perfis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D5695A-724C-4C38-A3D4-715668B2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6C24275-3E88-4BE3-B0CF-54ACAF3C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41CC55A-F73A-4D0F-99C4-F23317C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29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A66C30-4DF3-47DA-A3DC-E710210A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29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1E2139-C0CA-41D8-A466-208EE277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29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9DDD0DF-13FC-401E-BBBB-15FAEB24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Adulto nível 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A21C460-C694-4D79-88D2-D5228CA1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244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12D0AA4-51B1-4632-9C1D-250B2954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339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7791F"/>
                </a:solidFill>
              </a:defRPr>
            </a:pPr>
            <a:r>
              <a:rPr sz="1050" b="1">
                <a:solidFill>
                  <a:srgbClr val="B7791F"/>
                </a:solidFill>
              </a:rPr>
              <a:t>CORE ENTREGUE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61A7DF5-8732-4EAC-9821-54AE5EAC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Conta 18+, consentimento e painel próprio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FA0292D-1C22-4515-A227-780BA93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67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>
                <a:solidFill>
                  <a:srgbClr val="B7791F"/>
                </a:solidFill>
              </a:defRPr>
            </a:pPr>
            <a:r>
              <a:rPr sz="1088" b="1">
                <a:solidFill>
                  <a:srgbClr val="B7791F"/>
                </a:solidFill>
              </a:rPr>
              <a:t>Editor do perfil sensorial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B30C49-2D76-48E1-9653-65AF8C83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BD1C5D0-B879-4050-8AC7-0DC5677C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0E0E51D-3DA9-4738-B955-DA6EB23D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05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2E7C277-7623-40F7-A04C-C6E2B324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05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A9A054E-E1CE-4A56-8C6D-DFB8ECCD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05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D4D22D8-A0AA-4B44-9DFA-4A1CB3E7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Fundação técnica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8A24BE1-95EA-441E-96AF-15045089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007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0">
            <a:solidFill>
              <a:srgbClr val="E8F6F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F7000AF-BAC2-4DC7-8F7C-0C4A6404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0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6856A"/>
                </a:solidFill>
              </a:defRPr>
            </a:pPr>
            <a:r>
              <a:rPr sz="1050" b="1">
                <a:solidFill>
                  <a:srgbClr val="16856A"/>
                </a:solidFill>
              </a:rPr>
              <a:t>ENTREGUE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B12E84E-A497-4D51-8EB1-E230C76F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435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>
                <a:solidFill>
                  <a:srgbClr val="111827"/>
                </a:solidFill>
              </a:defRPr>
            </a:pPr>
            <a:r>
              <a:rPr sz="1088" b="0">
                <a:solidFill>
                  <a:srgbClr val="111827"/>
                </a:solidFill>
              </a:rPr>
              <a:t>Auth/RBAC, consentimento, auditoria, CI/CD e produção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68288A6-6408-4E12-812A-CDF5EE62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543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>
                <a:solidFill>
                  <a:srgbClr val="B7791F"/>
                </a:solidFill>
              </a:defRPr>
            </a:pPr>
            <a:r>
              <a:rPr sz="1088" b="1">
                <a:solidFill>
                  <a:srgbClr val="B7791F"/>
                </a:solidFill>
              </a:rPr>
              <a:t>Estabilização do nightly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F890CCE-50C9-435E-98EE-BE6A3416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A2EF286-5176-4EA7-BEEB-81A192DA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245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47A6"/>
                </a:solidFill>
              </a:defRPr>
            </a:pPr>
            <a:r>
              <a:rPr sz="1050" b="1">
                <a:solidFill>
                  <a:srgbClr val="1747A6"/>
                </a:solidFill>
              </a:rPr>
              <a:t>VEREDITO  ·  Objetivo central atingido; fechamento funcional e qualidade ampla permanecem transparentes.</a:t>
            </a:r>
          </a:p>
        </p:txBody>
      </p:sp>
    </p:spTree>
    <p:extLst>
      <p:ext uri="{BB962C8B-B14F-4D97-AF65-F5344CB8AC3E}">
        <p14:creationId xmlns:p14="http://schemas.microsoft.com/office/powerpoint/2010/main" val="686836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A4C969-8F71-4BB4-BDB2-CDF8B827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46BFE"/>
                </a:solidFill>
              </a:defRPr>
            </a:pPr>
            <a:r>
              <a:rPr sz="1050" b="1">
                <a:solidFill>
                  <a:srgbClr val="246BFE"/>
                </a:solidFill>
              </a:rPr>
              <a:t>AUTISFERA  /  ROADMAP EXECUTIVO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4C2C4-63FE-414B-857E-9B912F40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89003-9CDD-4930-9581-812BF13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Entregamos uma camada de evolução além do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AC232-9FE7-45C3-BD4B-FBED85CF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Capacidades já em produção que formam a base concreta da evolução pós-MVP.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EB241-71D7-48BF-95E9-B0DDEBCB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1C46A-E1A8-46F1-B916-89984EB3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3721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2DE54-92F4-4EE5-8B3E-DEA9F2EF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18D07-AE74-4BAC-8152-406F30BD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46BFE"/>
                </a:solidFill>
              </a:defRPr>
            </a:pPr>
            <a:r>
              <a:rPr sz="1200" b="1">
                <a:solidFill>
                  <a:srgbClr val="246BFE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309BE-1BA6-4A1F-ACF5-CB09055A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621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Coordenação em tempo real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65053-2241-4555-AFEE-BFC17B2F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B2F40-CA31-4A96-9235-D4040CE0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Diário compartilhado + anexos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C4D71-22C9-464A-83A2-B384A49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91750-76D9-448A-A486-DB78799D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03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Alertas bidirecionais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F0B6B-6220-4A6B-A5BE-E65439BD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B1EB2-9DD9-48C9-9267-3814C630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479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Estado diário sincronizado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F8C77-7D9D-4ABE-9001-B631F40E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AEC66-DCB7-4180-85B0-B527E3F7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956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Mensagens da Rede de Cuidado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DC45B-DB2C-4CB6-B69F-2D36A2AC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3721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C0395-CF35-4C11-850F-5A87CB6F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984FB-8B1F-46F9-956B-1D65DB4B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46BFE"/>
                </a:solidFill>
              </a:defRPr>
            </a:pPr>
            <a:r>
              <a:rPr sz="1200" b="1">
                <a:solidFill>
                  <a:srgbClr val="246BFE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C6673-C6AA-40DB-AE0A-41B4FA2F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Experiência profissional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BDB5D-C594-439D-815D-44B80966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6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B28F4-82EC-416A-9A58-DCDC1E08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Dashboard ampliado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8A494-EEFD-4147-B9A4-F83EDDF1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14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F54DC9-6184-4A54-BD87-27C415D9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03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Famílias conectadas e notificações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BECB2-AD20-4C79-B030-1AEC089A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62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9D20F-B21E-4644-A9E0-060C1C14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479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Conteúdo e métricas de alcance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F49735-BC94-4FBC-9A8F-83D3B71E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99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0629F-A0E1-4012-8467-4DC3D95F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956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Relatórios e visão do estado infantil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4A4C2-CD9B-4916-925A-736D60FD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3721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F50873-3401-4D23-ACF2-C604A057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532058-F64B-4B78-B1C7-7EF40E60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46BFE"/>
                </a:solidFill>
              </a:defRPr>
            </a:pPr>
            <a:r>
              <a:rPr sz="1200" b="1">
                <a:solidFill>
                  <a:srgbClr val="246BFE"/>
                </a:solidFill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EA93F8-E987-4F3B-91F3-6D5668FC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00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Confiança e governança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403420-368E-4034-8EEA-769B72E1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3026BA-56A3-46CB-9FBF-37648113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Verificação de identidade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9A1680-DCB4-4E33-983B-306C9F6C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E72BA7-7299-4401-A7CB-EA5FE96F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Permissões por seção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C4FCE3-55E0-40FB-A7C8-2F9A3B9E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C62722-C04F-4730-A493-A3B86EC9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95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Links de compartilhamento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347713-A9B7-4998-B36E-2DC25267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20BCE3-A473-4B41-BDF1-0AB0111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Auditoria e gestão operacional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D6F9E3-3217-4ADA-A864-68EA0C64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53721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BD5DA1-2629-453A-A50C-907B8594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7EC1ED-0FAE-497D-9061-BE534307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46BFE"/>
                </a:solidFill>
              </a:defRPr>
            </a:pPr>
            <a:r>
              <a:rPr sz="1200" b="1">
                <a:solidFill>
                  <a:srgbClr val="246BFE"/>
                </a:solidFill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48FB32-AF1A-494F-ACF9-33CF6181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100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Operação e escala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48C95F-DFC5-42AA-8AA6-9134F08A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251973-90DA-4658-9C9D-A8898919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Métricas de produto e beta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55F3E6-C2E2-46D2-B149-2B57A907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05B155-3365-4A12-88DE-7471B64B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Guia público do beta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ABF34E-9100-470F-9727-273ED1C5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1964E6-8AD5-46C1-B8CF-C1FB4E80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95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Regressão ampliada e CI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F66060-1271-4DA8-A1FE-CBFA5F47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57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72F2BC-8771-4ED2-8519-9A8333D1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43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Varredura assíncrona de anexos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731C02-2F9B-421C-BCE0-A74E37EB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7DEC85-FB77-4856-96D7-78CB59D4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B7791F"/>
                </a:solidFill>
              </a:defRPr>
            </a:pPr>
            <a:r>
              <a:rPr sz="975" b="1">
                <a:solidFill>
                  <a:srgbClr val="B7791F"/>
                </a:solidFill>
              </a:rPr>
              <a:t>EM ANDAMENTO — FORA DO BASELINE DE PRODUÇÃO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4ACA0F-936E-4402-8D68-D69E29A7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PR #85: evolução do estado/histórico  ·  PR #86: arquitetura de onboarding profissional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F0B635-A26D-4760-9C57-60D5E04E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D9D4C7-2590-415F-9891-A7BF3E43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27 AGO 2026  ·  STATUS VALIDADO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ECA6C5-68A5-421D-9608-40A83F67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4367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CONFIDENCIAL  ·  USO EXECUTIVO</a:t>
            </a:r>
          </a:p>
        </p:txBody>
      </p:sp>
    </p:spTree>
    <p:extLst>
      <p:ext uri="{BB962C8B-B14F-4D97-AF65-F5344CB8AC3E}">
        <p14:creationId xmlns:p14="http://schemas.microsoft.com/office/powerpoint/2010/main" val="1844462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68683DC-017A-42F1-9824-132AD910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46BFE"/>
                </a:solidFill>
              </a:defRPr>
            </a:pPr>
            <a:r>
              <a:rPr sz="1050" b="1">
                <a:solidFill>
                  <a:srgbClr val="246BFE"/>
                </a:solidFill>
              </a:rPr>
              <a:t>AUTISFERA  /  ROADMAP EXECUTIVO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985C5-2B72-419F-BDAF-F5F6D9F8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5CEC6-5A58-43FA-B712-BBE4CE72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 Fase 2 transforma extras em aprendizado e escala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59930-DC20-436A-BCE9-BF573060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Horizontes sugeridos para governar a evolução sem perder o fechamento do MVP.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513B4-E108-4E37-B453-751FF20F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170F3-EC6C-4FEE-821C-D414E60A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57616-27B1-4944-9B9A-3B8F4220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BFE"/>
                </a:solidFill>
              </a:defRPr>
            </a:pPr>
            <a:r>
              <a:rPr sz="975" b="1">
                <a:solidFill>
                  <a:srgbClr val="246BFE"/>
                </a:solidFill>
              </a:rPr>
              <a:t>CLAREZA DE NOMENCLATURA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4BE11-3807-49E8-85B6-30124165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47A6"/>
                </a:solidFill>
              </a:defRPr>
            </a:pPr>
            <a:r>
              <a:rPr sz="1125" b="1">
                <a:solidFill>
                  <a:srgbClr val="1747A6"/>
                </a:solidFill>
              </a:rPr>
              <a:t>A “Fase 2 — Fundação Técnica” do documento já foi entregue. Aqui, Fase 2 significa evolução pós-MVP.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4D404-2B48-4D96-BB32-2FC8296F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57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9FDEE-8C20-4E1D-BE33-CF822DAE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FRENTE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F47C8-1B51-41BD-BD84-62E30647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0505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F584D-89A5-4CCA-8451-CACD9D03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241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AGORA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1CF93-7B46-4BD5-93BC-F5382216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0505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76455-ADB3-4FEB-A58F-586E027F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241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0–30 DIAS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8A0E7-2F8F-4FDF-9805-4E6EB1FD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6659B-7B5A-4AF2-BFAE-C7CEF13D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30–90 DIAS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D17D3-0475-4D17-92EE-2AF0C492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0505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0A13E-FF2F-443C-942B-263BF7B4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241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90–180 DIAS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4D762-9D13-4459-A71C-E517BE9A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05050"/>
            <a:ext cx="1352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0F19"/>
          </a:solidFill>
          <a:ln xmlns:a="http://schemas.openxmlformats.org/drawingml/2006/main" w="0">
            <a:solidFill>
              <a:srgbClr val="0B0F1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7DD71-6AD5-4D1C-BF00-836732DD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241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D85EB-794A-4C8D-B765-663806D0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1ABFB-9F8F-4C55-9DD6-B72C552F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1AD68-1261-49CB-BBB7-6310E898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Fechamento do MVP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31D93-322B-4816-BB66-EE9272E1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667085"/>
                </a:solidFill>
              </a:defRPr>
            </a:pPr>
            <a:r>
              <a:rPr sz="1013" b="0">
                <a:solidFill>
                  <a:srgbClr val="667085"/>
                </a:solidFill>
              </a:rPr>
              <a:t>CI, contratos e smoke de produção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334DD-2DD1-421E-A263-E8C20F81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860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47BC51-1F8C-4444-B954-0EF72F2D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860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85CB60-0638-4B67-9616-AED6F927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96BDF7-B238-41AC-BEC6-8EDE0D40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860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6C43C9-F393-40C5-81BF-92E742B2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860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193F91-3642-466E-9C41-7BB8A0EA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6860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51C288-ADD5-435F-8692-BCD9D687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32575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5994D3-0F33-45E5-9566-87B1E680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EXECUÇÃO + VALIDAÇÃO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4D47D4-A2BD-4DB1-B4A0-6D7B9DDF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71775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1">
                <a:solidFill>
                  <a:srgbClr val="111827"/>
                </a:solidFill>
              </a:defRPr>
            </a:pPr>
            <a:r>
              <a:rPr sz="1013" b="1">
                <a:solidFill>
                  <a:srgbClr val="111827"/>
                </a:solidFill>
              </a:rPr>
              <a:t>Nightly verde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F87473-BB67-4D50-8ECF-03A5A19F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728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E3AD60-98FF-4328-81A6-E2E1A343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44783E-E1BE-4E6A-AD02-EA98EF92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Aprendizado do piloto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4DEA25-64C3-4BBF-9C9C-7180055B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667085"/>
                </a:solidFill>
              </a:defRPr>
            </a:pPr>
            <a:r>
              <a:rPr sz="1013" b="0">
                <a:solidFill>
                  <a:srgbClr val="667085"/>
                </a:solidFill>
              </a:rPr>
              <a:t>feedback, métricas e fricções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641F14-53C6-4F87-96A0-5686A9DD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4327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0F99D8-17EF-40C8-B3F2-8E292BD3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34327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914E0-3179-46CF-AC85-01DDBEF4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4327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4728E3-1B3A-447D-B30F-F17ACAFA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4327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03FB12-6CA8-4EAA-A456-F850702B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4327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0F6242-C67F-4E78-B4C8-A90B1CF1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34327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68631E-FE0C-4EE1-A3C0-E1F18038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52825"/>
            <a:ext cx="5019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B01BE0-CB07-4F69-8AEC-CDD132D3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33775"/>
            <a:ext cx="4829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EXECUÇÃO + VALIDAÇÃO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E99406-5463-4D2C-A4A8-D9462DBC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42900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1">
                <a:solidFill>
                  <a:srgbClr val="111827"/>
                </a:solidFill>
              </a:defRPr>
            </a:pPr>
            <a:r>
              <a:rPr sz="1013" b="1">
                <a:solidFill>
                  <a:srgbClr val="111827"/>
                </a:solidFill>
              </a:rPr>
              <a:t>Backlog priorizado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D36C16-EA64-4183-8D19-832D621C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E1CCF8-0A60-40D6-8D56-81EE0337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5FE734-728C-4258-9CE5-8FF77B32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Produto — Fase 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591E0C-1F3A-42AE-9246-D3A008E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667085"/>
                </a:solidFill>
              </a:defRPr>
            </a:pPr>
            <a:r>
              <a:rPr sz="1013" b="0">
                <a:solidFill>
                  <a:srgbClr val="667085"/>
                </a:solidFill>
              </a:rPr>
              <a:t>adulto, recomendações, admin; validar diário/chat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9F5B3F-1D49-4078-B14E-9255D0CE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392A06-2B80-4266-ABA7-1B09B5C6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00050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2FB7F3-1F41-4993-940F-411B8732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5C3572-5E27-4FEF-80B2-1CF27029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0050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BC8921-51F6-44C5-8B2B-AB464D8B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0050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750D45-51D8-496C-8E47-C01CE303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00050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B51627-0BAD-407F-85C1-B3ACA4A9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10050"/>
            <a:ext cx="32575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AABF"/>
          </a:solidFill>
          <a:ln xmlns:a="http://schemas.openxmlformats.org/drawingml/2006/main" w="0">
            <a:solidFill>
              <a:srgbClr val="15AAB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35E806-30C8-4F2A-B096-E44156D6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191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EXECUÇÃO + VALIDAÇÃO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4C3981-5D51-4690-811A-37502DB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86225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1">
                <a:solidFill>
                  <a:srgbClr val="111827"/>
                </a:solidFill>
              </a:defRPr>
            </a:pPr>
            <a:r>
              <a:rPr sz="1013" b="1">
                <a:solidFill>
                  <a:srgbClr val="111827"/>
                </a:solidFill>
              </a:rPr>
              <a:t>Adoção validada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F2FD8B-2702-4AC0-AC16-F240EAD5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9728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E396B4-82FC-478E-8F91-AFC516A2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522696-C660-4759-BAE3-3C6A72A2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Operação e governança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BCDFDC-69E9-45D0-8DFD-2F6FD3DC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667085"/>
                </a:solidFill>
              </a:defRPr>
            </a:pPr>
            <a:r>
              <a:rPr sz="1013" b="0">
                <a:solidFill>
                  <a:srgbClr val="667085"/>
                </a:solidFill>
              </a:rPr>
              <a:t>SLA, conteúdo, privacidade e suporte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E611967-4E06-4BA1-92F7-53DB3277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5772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09DC09-41B0-4497-B22A-824CC490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65772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5209F1-93C3-4DEB-B2A6-AA9D1DAF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5772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CE4ADC-BD95-426F-A55F-A2587DF9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5772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32DFC3-2503-4C52-9021-BC7D49FD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65772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8E4181-D5D4-4C3B-B9A7-4B11165B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65772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133020-08CF-4D24-AA73-B33334BC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867275"/>
            <a:ext cx="5019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7A6"/>
          </a:solidFill>
          <a:ln xmlns:a="http://schemas.openxmlformats.org/drawingml/2006/main" w="0">
            <a:solidFill>
              <a:srgbClr val="1747A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ED3A592-25CC-4792-B5F8-605278F9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48225"/>
            <a:ext cx="4829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EXECUÇÃO + VALIDAÇÃO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28A51C9-694D-4A58-B648-79E046B1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7434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1">
                <a:solidFill>
                  <a:srgbClr val="111827"/>
                </a:solidFill>
              </a:defRPr>
            </a:pPr>
            <a:r>
              <a:rPr sz="1013" b="1">
                <a:solidFill>
                  <a:srgbClr val="111827"/>
                </a:solidFill>
              </a:rPr>
              <a:t>Ritos formalizados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A8B7F0-74CE-4E1B-A7DF-EB767D50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B0C75FF-8B53-4077-9421-03B75363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431C310-ECFF-4200-9F87-E7ED2C4D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Escala e expansão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27FA86-EAB1-4CEA-BED6-310A7AF9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667085"/>
                </a:solidFill>
              </a:defRPr>
            </a:pPr>
            <a:r>
              <a:rPr sz="1013" b="0">
                <a:solidFill>
                  <a:srgbClr val="667085"/>
                </a:solidFill>
              </a:rPr>
              <a:t>permissões, parceiros e novos canais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D81478-AD8A-4EAB-AA32-F98A7A80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3149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55AFD8A-B12C-4F56-8DBE-A4A1CA04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3149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1071EB6-FAD5-4360-8BD2-436BE727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149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0E1A423-2970-457C-B162-B24CED82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149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1AF863-A268-4354-9CA6-9ECE72C4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3149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62ECB19-15A0-4E75-B453-0B00F469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314950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7A593F-0DD4-4C1D-A08F-72C7AD4F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524500"/>
            <a:ext cx="14954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56A"/>
          </a:solidFill>
          <a:ln xmlns:a="http://schemas.openxmlformats.org/drawingml/2006/main" w="0">
            <a:solidFill>
              <a:srgbClr val="16856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EED57E9-07C4-4771-A639-E705222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05450"/>
            <a:ext cx="130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DECISÃO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7F7394-DE01-4727-BF6D-6BE90B5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400675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1">
                <a:solidFill>
                  <a:srgbClr val="111827"/>
                </a:solidFill>
              </a:defRPr>
            </a:pPr>
            <a:r>
              <a:rPr sz="1013" b="1">
                <a:solidFill>
                  <a:srgbClr val="111827"/>
                </a:solidFill>
              </a:rPr>
              <a:t>Go / No-go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0422E36-7F71-4013-AE6E-478775E3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0">
            <a:solidFill>
              <a:srgbClr val="E8F6F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5B9AF5F-E46B-4C0E-9E9E-D2B66D0B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6856A"/>
                </a:solidFill>
              </a:defRPr>
            </a:pPr>
            <a:r>
              <a:rPr sz="1125" b="1">
                <a:solidFill>
                  <a:srgbClr val="16856A"/>
                </a:solidFill>
              </a:rPr>
              <a:t>DECISÃO EXECUTIVA  ·  Declarar o objetivo central do MVP atingido e governar o escopo adicional como Fase 2.</a:t>
            </a:r>
          </a:p>
        </p:txBody>
      </p:sp>
    </p:spTree>
    <p:extLst>
      <p:ext uri="{BB962C8B-B14F-4D97-AF65-F5344CB8AC3E}">
        <p14:creationId xmlns:p14="http://schemas.microsoft.com/office/powerpoint/2010/main" val="1519349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2026-08-27T16:33:13.9080000Z</dcterms:created>
  <dcterms:modified xsi:type="dcterms:W3CDTF">2026-08-27T16:33:13.9080000Z</dcterms:modified>
</coreProperties>
</file>